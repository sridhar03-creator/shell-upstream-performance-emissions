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2E36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B2E36"/>
                </a:solidFill>
                <a:latin typeface="Calibri"/>
              </a:rPr>
              <a:t>Emissions by Scope (M)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Emissions (M)</c:v>
                </c:pt>
              </c:strCache>
            </c:strRef>
          </c:tx>
          <c:spPr>
            <a:solidFill>
              <a:srgbClr val="0F6B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B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A5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2E3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Scope 1</c:v>
                  </c:pt>
                  <c:pt idx="1">
                    <c:v>Scope 2</c:v>
                  </c:pt>
                  <c:pt idx="2">
                    <c:v>Scope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21.7</c:v>
                </c:pt>
                <c:pt idx="1">
                  <c:v>7.4</c:v>
                </c:pt>
                <c:pt idx="2">
                  <c:v>76.9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E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2E36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B2E36"/>
                </a:solidFill>
                <a:latin typeface="Calibri"/>
              </a:rPr>
              <a:t>Scenario Comparison — Production Growth vs Renewable Share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Growth %</c:v>
                </c:pt>
              </c:strCache>
            </c:strRef>
          </c:tx>
          <c:spPr>
            <a:solidFill>
              <a:srgbClr val="0F6B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Accel. Transition</c:v>
                  </c:pt>
                  <c:pt idx="1">
                    <c:v>Base</c:v>
                  </c:pt>
                  <c:pt idx="2">
                    <c:v>Growth</c:v>
                  </c:pt>
                  <c:pt idx="3">
                    <c:v>High Oil Price</c:v>
                  </c:pt>
                  <c:pt idx="4">
                    <c:v>Low Oil Price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8</c:v>
                </c:pt>
                <c:pt idx="3">
                  <c:v>5</c:v>
                </c:pt>
                <c:pt idx="4">
                  <c:v>-2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Renewable Share %</c:v>
                </c:pt>
              </c:strCache>
            </c:strRef>
          </c:tx>
          <c:spPr>
            <a:solidFill>
              <a:srgbClr val="D9A5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Accel. Transition</c:v>
                  </c:pt>
                  <c:pt idx="1">
                    <c:v>Base</c:v>
                  </c:pt>
                  <c:pt idx="2">
                    <c:v>Growth</c:v>
                  </c:pt>
                  <c:pt idx="3">
                    <c:v>High Oil Price</c:v>
                  </c:pt>
                  <c:pt idx="4">
                    <c:v>Low Oil Price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10</c:v>
                </c:pt>
                <c:pt idx="2">
                  <c:v>15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E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E7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123F49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731520"/>
            <a:ext cx="3840480" cy="384048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 ·  UPSTREAM OPERATIONS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Upstream Performance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Emissions Command Center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analytics solution unifying production, financial, emissions and scenario intelligence into a single management command center.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377440" cy="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5175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7320" y="5394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sridhar.P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5989320"/>
            <a:ext cx="3246120" cy="640080"/>
          </a:xfrm>
          <a:prstGeom prst="roundRect">
            <a:avLst>
              <a:gd name="adj" fmla="val 10000"/>
            </a:avLst>
          </a:prstGeom>
          <a:solidFill>
            <a:srgbClr val="123F49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605332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7552" y="62819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5989320"/>
            <a:ext cx="3246120" cy="640080"/>
          </a:xfrm>
          <a:prstGeom prst="roundRect">
            <a:avLst>
              <a:gd name="adj" fmla="val 10000"/>
            </a:avLst>
          </a:prstGeom>
          <a:solidFill>
            <a:srgbClr val="123F49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605332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ETL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16552" y="62819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Power BI ETL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80960" y="5989320"/>
            <a:ext cx="3246120" cy="640080"/>
          </a:xfrm>
          <a:prstGeom prst="roundRect">
            <a:avLst>
              <a:gd name="adj" fmla="val 10000"/>
            </a:avLst>
          </a:prstGeom>
          <a:solidFill>
            <a:srgbClr val="123F49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45552" y="605332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45552" y="62819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report pages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0" y="105156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github.com/sridhar03-creator/shell-upstream-performance-emissions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5989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Upstream Performance &amp; Emissions Command Center is an interactive Power BI dashboard giving management a single, consolidated view of upstream production, operations, financial performance, emissions, decarbonization, and strategic scenarios.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5989320" cy="2880360"/>
          </a:xfrm>
          <a:prstGeom prst="roundRect">
            <a:avLst>
              <a:gd name="adj" fmla="val 3175"/>
            </a:avLst>
          </a:prstGeom>
          <a:solidFill>
            <a:srgbClr val="E4EEEE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749040"/>
            <a:ext cx="5440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— cross-functional performance overview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teams — production &amp; asset reliability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— revenue, cost and margin analysis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— emissions &amp; decarbonization tracking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— scenario and strategic trade-off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1655064"/>
            <a:ext cx="329184" cy="32918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88" dirty="0"/>
          </a:p>
        </p:txBody>
      </p:sp>
      <p:sp>
        <p:nvSpPr>
          <p:cNvPr id="13" name="Text 11"/>
          <p:cNvSpPr/>
          <p:nvPr/>
        </p:nvSpPr>
        <p:spPr>
          <a:xfrm>
            <a:off x="7223760" y="1600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23760" y="1874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Management-level summary of production, finance &amp; emissions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432304"/>
            <a:ext cx="4965192" cy="0"/>
          </a:xfrm>
          <a:prstGeom prst="line">
            <a:avLst/>
          </a:prstGeom>
          <a:noFill/>
          <a:ln w="9525">
            <a:solidFill>
              <a:srgbClr val="DCE7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560320"/>
            <a:ext cx="329184" cy="32918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88" dirty="0"/>
          </a:p>
        </p:txBody>
      </p:sp>
      <p:sp>
        <p:nvSpPr>
          <p:cNvPr id="18" name="Text 16"/>
          <p:cNvSpPr/>
          <p:nvPr/>
        </p:nvSpPr>
        <p:spPr>
          <a:xfrm>
            <a:off x="7223760" y="25054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Operations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223760" y="27797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downtime, maintenance and operational trends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3337560"/>
            <a:ext cx="4965192" cy="0"/>
          </a:xfrm>
          <a:prstGeom prst="line">
            <a:avLst/>
          </a:prstGeom>
          <a:noFill/>
          <a:ln w="9525">
            <a:solidFill>
              <a:srgbClr val="DCE7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3465576"/>
            <a:ext cx="329184" cy="32918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88" dirty="0"/>
          </a:p>
        </p:txBody>
      </p:sp>
      <p:sp>
        <p:nvSpPr>
          <p:cNvPr id="23" name="Text 21"/>
          <p:cNvSpPr/>
          <p:nvPr/>
        </p:nvSpPr>
        <p:spPr>
          <a:xfrm>
            <a:off x="7223760" y="3410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223760" y="3685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cost, margin, region/segment &amp; Brent-price context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4242816"/>
            <a:ext cx="4965192" cy="0"/>
          </a:xfrm>
          <a:prstGeom prst="line">
            <a:avLst/>
          </a:prstGeom>
          <a:noFill/>
          <a:ln w="9525">
            <a:solidFill>
              <a:srgbClr val="DCE7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4370832"/>
            <a:ext cx="329184" cy="32918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88" dirty="0"/>
          </a:p>
        </p:txBody>
      </p:sp>
      <p:sp>
        <p:nvSpPr>
          <p:cNvPr id="28" name="Text 26"/>
          <p:cNvSpPr/>
          <p:nvPr/>
        </p:nvSpPr>
        <p:spPr>
          <a:xfrm>
            <a:off x="7223760" y="43159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&amp; Decarbonization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223760" y="45902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1/2/3, regional emissions, targets &amp; composition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5148072"/>
            <a:ext cx="4965192" cy="0"/>
          </a:xfrm>
          <a:prstGeom prst="line">
            <a:avLst/>
          </a:prstGeom>
          <a:noFill/>
          <a:ln w="9525">
            <a:solidFill>
              <a:srgbClr val="DCE7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5276088"/>
            <a:ext cx="329184" cy="32918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88" dirty="0"/>
          </a:p>
        </p:txBody>
      </p:sp>
      <p:sp>
        <p:nvSpPr>
          <p:cNvPr id="33" name="Text 31"/>
          <p:cNvSpPr/>
          <p:nvPr/>
        </p:nvSpPr>
        <p:spPr>
          <a:xfrm>
            <a:off x="7223760" y="52212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223760" y="54955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Oil-price, growth, revenue, emissions &amp; renewable-share trade-offs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— Problem Statement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0B2E3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007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385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&amp; Gas — Upstream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upstream oil &amp; gas business generates complex operational, financial, asset, commodity-price and environmental information. Production performance, asset availability, downtime, maintenance, revenue, cost, margin, emissions and future scenarios are difficult to evaluate together when reviewed in isolation.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5074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reviewed together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5394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4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394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83080" y="539496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E4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53949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44368" y="5394960"/>
            <a:ext cx="941832" cy="384048"/>
          </a:xfrm>
          <a:prstGeom prst="roundRect">
            <a:avLst>
              <a:gd name="adj" fmla="val 50000"/>
            </a:avLst>
          </a:prstGeom>
          <a:solidFill>
            <a:srgbClr val="E4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2944368" y="5394960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23360" y="5394960"/>
            <a:ext cx="1106424" cy="384048"/>
          </a:xfrm>
          <a:prstGeom prst="roundRect">
            <a:avLst>
              <a:gd name="adj" fmla="val 50000"/>
            </a:avLst>
          </a:prstGeom>
          <a:solidFill>
            <a:srgbClr val="E4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539496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66944" y="5394960"/>
            <a:ext cx="1106424" cy="384048"/>
          </a:xfrm>
          <a:prstGeom prst="roundRect">
            <a:avLst>
              <a:gd name="adj" fmla="val 50000"/>
            </a:avLst>
          </a:prstGeom>
          <a:solidFill>
            <a:srgbClr val="E4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5266944" y="539496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0" y="1600200"/>
            <a:ext cx="5056632" cy="4480560"/>
          </a:xfrm>
          <a:prstGeom prst="roundRect">
            <a:avLst>
              <a:gd name="adj" fmla="val 2041"/>
            </a:avLst>
          </a:prstGeom>
          <a:solidFill>
            <a:srgbClr val="E4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addresses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31152" y="21214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major performance measures into one interactive command center so users can understand: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31152" y="2697480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by time and region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contribution and downtime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by category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margin and Brent-price context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scopes, regions and targets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outcomes and trade-offs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36393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847088"/>
            <a:ext cx="402336" cy="402336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52" dirty="0"/>
          </a:p>
        </p:txBody>
      </p:sp>
      <p:sp>
        <p:nvSpPr>
          <p:cNvPr id="10" name="Text 8"/>
          <p:cNvSpPr/>
          <p:nvPr/>
        </p:nvSpPr>
        <p:spPr>
          <a:xfrm>
            <a:off x="658368" y="235915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67919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environment for storing and managing project data and tables.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79392" y="1645920"/>
            <a:ext cx="36393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847088"/>
            <a:ext cx="402336" cy="402336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52" dirty="0"/>
          </a:p>
        </p:txBody>
      </p:sp>
      <p:sp>
        <p:nvSpPr>
          <p:cNvPr id="15" name="Text 13"/>
          <p:cNvSpPr/>
          <p:nvPr/>
        </p:nvSpPr>
        <p:spPr>
          <a:xfrm>
            <a:off x="4480560" y="235915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267919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BI and visualization platform used to build the interactive dashboard.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01584" y="1645920"/>
            <a:ext cx="36393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1847088"/>
            <a:ext cx="402336" cy="402336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52" dirty="0"/>
          </a:p>
        </p:txBody>
      </p:sp>
      <p:sp>
        <p:nvSpPr>
          <p:cNvPr id="20" name="Text 18"/>
          <p:cNvSpPr/>
          <p:nvPr/>
        </p:nvSpPr>
        <p:spPr>
          <a:xfrm>
            <a:off x="8302752" y="235915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/ ETL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2752" y="267919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extraction, transformation, cleaning, shaping and loading.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36393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3858768"/>
            <a:ext cx="402336" cy="402336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52" dirty="0"/>
          </a:p>
        </p:txBody>
      </p:sp>
      <p:sp>
        <p:nvSpPr>
          <p:cNvPr id="25" name="Text 23"/>
          <p:cNvSpPr/>
          <p:nvPr/>
        </p:nvSpPr>
        <p:spPr>
          <a:xfrm>
            <a:off x="658368" y="437083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469087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calculated measures and KPI logic inside Power BI.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79392" y="3657600"/>
            <a:ext cx="36393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3858768"/>
            <a:ext cx="402336" cy="402336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52" dirty="0"/>
          </a:p>
        </p:txBody>
      </p:sp>
      <p:sp>
        <p:nvSpPr>
          <p:cNvPr id="30" name="Text 28"/>
          <p:cNvSpPr/>
          <p:nvPr/>
        </p:nvSpPr>
        <p:spPr>
          <a:xfrm>
            <a:off x="4480560" y="437083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0560" y="469087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line charts, bar charts, composition charts, tables &amp; scenario visuals.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01584" y="3657600"/>
            <a:ext cx="36393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02752" y="3858768"/>
            <a:ext cx="402336" cy="402336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34" name="Text 32"/>
          <p:cNvSpPr/>
          <p:nvPr/>
        </p:nvSpPr>
        <p:spPr>
          <a:xfrm>
            <a:off x="8302752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52" dirty="0"/>
          </a:p>
        </p:txBody>
      </p:sp>
      <p:sp>
        <p:nvSpPr>
          <p:cNvPr id="35" name="Text 33"/>
          <p:cNvSpPr/>
          <p:nvPr/>
        </p:nvSpPr>
        <p:spPr>
          <a:xfrm>
            <a:off x="8302752" y="437083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Slicers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02752" y="469087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filtering by scenario, year, region, asset and other dimensions.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Introduction and Source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represents upstream business information needed to analyze production, operations, financial performance, emissions and scenarios — spanning time, region, segment, asset, maintenance type, emissions scope, targets and scenario assumptions.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07999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Represented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7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volumes, trends, regional production, and asset-level production.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Downtime hours, maintenance categories, downtime by asset, and maintenance cost.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Revenue, cost, margin, margin %, segment revenue, regional revenue, and Brent price.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emissions, Scope 1, Scope 2, Scope 3, emissions by region/asset, intensity, and targets.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price, production growth, revenue growth, expected production/revenue/emissions, renewable share.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Calendar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Month, year, trend analysis, and time-based filtering.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— Database and Tables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organizes upstream information into structured data consumed by Power BI. The supplied documentation does not name the physical schema, so the tables below represent the logical data organization.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827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Table / Data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7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records used for production KPIs, trends, regions and assets.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/ Maintenance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Downtime, maintenance type, asset and maintenance-cost information.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Revenue, cost, margin, segment, region and Brent-price information.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Emissions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Emissions by scope, region, asset and time.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Emissions Target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Year-based reduction target information used by target calculations.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assumptions and expected production, revenue, emissions and renewable share.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Calendar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intelligence, monthly trends and year filtering.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CONNECTIVITY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MySQL with Power BI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MySQL-to-Power BI connection bridges structured database information with the Power BI analytical model.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84048" cy="38404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87552" y="2093976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BI Desktop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2368296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MySQL database connector from Get Data.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2093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E71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91072" y="2148840"/>
            <a:ext cx="384048" cy="384048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14" name="Text 12"/>
          <p:cNvSpPr/>
          <p:nvPr/>
        </p:nvSpPr>
        <p:spPr>
          <a:xfrm>
            <a:off x="6291072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86" dirty="0"/>
          </a:p>
        </p:txBody>
      </p:sp>
      <p:sp>
        <p:nvSpPr>
          <p:cNvPr id="15" name="Text 13"/>
          <p:cNvSpPr/>
          <p:nvPr/>
        </p:nvSpPr>
        <p:spPr>
          <a:xfrm>
            <a:off x="6821424" y="2093976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connection details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21424" y="2368296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MySQL server and database information.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82112"/>
            <a:ext cx="384048" cy="38404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86" dirty="0"/>
          </a:p>
        </p:txBody>
      </p:sp>
      <p:sp>
        <p:nvSpPr>
          <p:cNvPr id="19" name="Text 17"/>
          <p:cNvSpPr/>
          <p:nvPr/>
        </p:nvSpPr>
        <p:spPr>
          <a:xfrm>
            <a:off x="987552" y="3127248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3401568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the required database credentials.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E71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91072" y="3182112"/>
            <a:ext cx="384048" cy="384048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23" name="Text 21"/>
          <p:cNvSpPr/>
          <p:nvPr/>
        </p:nvSpPr>
        <p:spPr>
          <a:xfrm>
            <a:off x="6291072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86" dirty="0"/>
          </a:p>
        </p:txBody>
      </p:sp>
      <p:sp>
        <p:nvSpPr>
          <p:cNvPr id="24" name="Text 22"/>
          <p:cNvSpPr/>
          <p:nvPr/>
        </p:nvSpPr>
        <p:spPr>
          <a:xfrm>
            <a:off x="6821424" y="3127248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data objects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21424" y="3401568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production, operations, financial, emissions, target, scenario and date objects.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15384"/>
            <a:ext cx="384048" cy="38404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86" dirty="0"/>
          </a:p>
        </p:txBody>
      </p:sp>
      <p:sp>
        <p:nvSpPr>
          <p:cNvPr id="28" name="Text 26"/>
          <p:cNvSpPr/>
          <p:nvPr/>
        </p:nvSpPr>
        <p:spPr>
          <a:xfrm>
            <a:off x="987552" y="416052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connection mode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" y="4434840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appropriate Import / DirectQuery approach for the deployment.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E71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91072" y="4215384"/>
            <a:ext cx="384048" cy="384048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86" dirty="0"/>
          </a:p>
        </p:txBody>
      </p:sp>
      <p:sp>
        <p:nvSpPr>
          <p:cNvPr id="33" name="Text 31"/>
          <p:cNvSpPr/>
          <p:nvPr/>
        </p:nvSpPr>
        <p:spPr>
          <a:xfrm>
            <a:off x="6821424" y="416052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Query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21424" y="4434840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ETL / data preparation on the selected objects.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248656"/>
            <a:ext cx="384048" cy="38404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86" dirty="0"/>
          </a:p>
        </p:txBody>
      </p:sp>
      <p:sp>
        <p:nvSpPr>
          <p:cNvPr id="37" name="Text 35"/>
          <p:cNvSpPr/>
          <p:nvPr/>
        </p:nvSpPr>
        <p:spPr>
          <a:xfrm>
            <a:off x="987552" y="5193792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load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87552" y="5468112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transformations and load prepared tables into the model.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52160" y="5193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E71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91072" y="5248656"/>
            <a:ext cx="384048" cy="384048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41" name="Text 39"/>
          <p:cNvSpPr/>
          <p:nvPr/>
        </p:nvSpPr>
        <p:spPr>
          <a:xfrm>
            <a:off x="6291072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86" dirty="0"/>
          </a:p>
        </p:txBody>
      </p:sp>
      <p:sp>
        <p:nvSpPr>
          <p:cNvPr id="42" name="Text 40"/>
          <p:cNvSpPr/>
          <p:nvPr/>
        </p:nvSpPr>
        <p:spPr>
          <a:xfrm>
            <a:off x="6821424" y="5193792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model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21424" y="5468112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relationships, measures and visuals.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ETL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Data to ETL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acts as the ETL preparation layer between the source data and the final Power BI model.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050085" cy="2286000"/>
          </a:xfrm>
          <a:prstGeom prst="roundRect">
            <a:avLst>
              <a:gd name="adj" fmla="val 3568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26210" y="2606040"/>
            <a:ext cx="512064" cy="51206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0" name="Text 8"/>
          <p:cNvSpPr/>
          <p:nvPr/>
        </p:nvSpPr>
        <p:spPr>
          <a:xfrm>
            <a:off x="1226210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48" dirty="0"/>
          </a:p>
        </p:txBody>
      </p:sp>
      <p:sp>
        <p:nvSpPr>
          <p:cNvPr id="11" name="Text 9"/>
          <p:cNvSpPr/>
          <p:nvPr/>
        </p:nvSpPr>
        <p:spPr>
          <a:xfrm>
            <a:off x="566928" y="3291840"/>
            <a:ext cx="18306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17757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MySQL and select the required data.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07285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E71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63317" y="2377440"/>
            <a:ext cx="2050085" cy="2286000"/>
          </a:xfrm>
          <a:prstGeom prst="roundRect">
            <a:avLst>
              <a:gd name="adj" fmla="val 3568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32327" y="2606040"/>
            <a:ext cx="512064" cy="51206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6" name="Text 14"/>
          <p:cNvSpPr/>
          <p:nvPr/>
        </p:nvSpPr>
        <p:spPr>
          <a:xfrm>
            <a:off x="3532327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48" dirty="0"/>
          </a:p>
        </p:txBody>
      </p:sp>
      <p:sp>
        <p:nvSpPr>
          <p:cNvPr id="17" name="Text 15"/>
          <p:cNvSpPr/>
          <p:nvPr/>
        </p:nvSpPr>
        <p:spPr>
          <a:xfrm>
            <a:off x="2873045" y="3291840"/>
            <a:ext cx="18306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00477" y="3611880"/>
            <a:ext cx="17757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columns, standardize values, set data types, reshape data.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3402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E71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69434" y="2377440"/>
            <a:ext cx="2050085" cy="2286000"/>
          </a:xfrm>
          <a:prstGeom prst="roundRect">
            <a:avLst>
              <a:gd name="adj" fmla="val 3568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38444" y="2606040"/>
            <a:ext cx="512064" cy="51206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2" name="Text 20"/>
          <p:cNvSpPr/>
          <p:nvPr/>
        </p:nvSpPr>
        <p:spPr>
          <a:xfrm>
            <a:off x="5838444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48" dirty="0"/>
          </a:p>
        </p:txBody>
      </p:sp>
      <p:sp>
        <p:nvSpPr>
          <p:cNvPr id="23" name="Text 21"/>
          <p:cNvSpPr/>
          <p:nvPr/>
        </p:nvSpPr>
        <p:spPr>
          <a:xfrm>
            <a:off x="5179162" y="3291840"/>
            <a:ext cx="18306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06594" y="3611880"/>
            <a:ext cx="17757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blanks, duplicates, invalid values, inconsistent categories, unexpected totals.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19518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E71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75550" y="2377440"/>
            <a:ext cx="2050085" cy="2286000"/>
          </a:xfrm>
          <a:prstGeom prst="roundRect">
            <a:avLst>
              <a:gd name="adj" fmla="val 3568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44561" y="2606040"/>
            <a:ext cx="512064" cy="51206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8" name="Text 26"/>
          <p:cNvSpPr/>
          <p:nvPr/>
        </p:nvSpPr>
        <p:spPr>
          <a:xfrm>
            <a:off x="8144561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48" dirty="0"/>
          </a:p>
        </p:txBody>
      </p:sp>
      <p:sp>
        <p:nvSpPr>
          <p:cNvPr id="29" name="Text 27"/>
          <p:cNvSpPr/>
          <p:nvPr/>
        </p:nvSpPr>
        <p:spPr>
          <a:xfrm>
            <a:off x="7485278" y="3291840"/>
            <a:ext cx="18306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12710" y="3611880"/>
            <a:ext cx="17757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prepared tables into the Power BI data model.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25635" y="31546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E71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81667" y="2377440"/>
            <a:ext cx="2050085" cy="2286000"/>
          </a:xfrm>
          <a:prstGeom prst="roundRect">
            <a:avLst>
              <a:gd name="adj" fmla="val 3568"/>
            </a:avLst>
          </a:prstGeom>
          <a:solidFill>
            <a:srgbClr val="0B2E36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450678" y="2606040"/>
            <a:ext cx="512064" cy="512064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34" name="Text 32"/>
          <p:cNvSpPr/>
          <p:nvPr/>
        </p:nvSpPr>
        <p:spPr>
          <a:xfrm>
            <a:off x="10450678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48" dirty="0"/>
          </a:p>
        </p:txBody>
      </p:sp>
      <p:sp>
        <p:nvSpPr>
          <p:cNvPr id="35" name="Text 33"/>
          <p:cNvSpPr/>
          <p:nvPr/>
        </p:nvSpPr>
        <p:spPr>
          <a:xfrm>
            <a:off x="9791395" y="3291840"/>
            <a:ext cx="18306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818827" y="3611880"/>
            <a:ext cx="17757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relationships and analytical structures required for reporting.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9834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4EEEE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9834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project's documented flow: source → preparation → model → measures → visuals → filters/navigation → decision support.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QUALITY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ensures KPI cards and visuals use consistent and reliable information.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cleaning rules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56032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 duplicate records where duplication is not a valid business event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or blank values in critical fields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correct data types to dates, numeric measures, percentages and categories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region, segment, asset, maintenance type, scope and scenario labels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negative or zero values according to business rules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057400"/>
            <a:ext cx="5605272" cy="4114800"/>
          </a:xfrm>
          <a:prstGeom prst="roundRect">
            <a:avLst>
              <a:gd name="adj" fmla="val 2222"/>
            </a:avLst>
          </a:prstGeom>
          <a:solidFill>
            <a:srgbClr val="0B2E36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82512" y="25603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month and year fields used by trend charts and filters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Scope 1, Scope 2 and Scope 3 labels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year-to-target mappings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scenario assumptions for consistent representation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important totals after cleaning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MODELING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DAX Measures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DAX expressions were not included in the supplied documentation; the measures below are professional examples aligned with the documented KPIs. Replace table/column names with the actual model names.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846320"/>
                <a:gridCol w="432511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DAX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7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SUM(Production[Production])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production.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SUM(Finance[Revenue])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SUM(Finance[Cost])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[Total Revenue] - [Total Cost]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less cost.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Margin],[Total Revenue],0)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percentage.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SUM(Emissions[Emissions])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emissions.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1 / 2 /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CALCULATE([Total Emissions], Emissions[Scope]="Scope n")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Emissions by scope.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Brent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AVERAGE(Finance[Brent Price])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Brent price.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DASHBOARD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Overview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contains five pages with a persistent left-side navigation panel. Each page uses a consistent hierarchy of header/title, KPI cards, analytical visuals and navigation.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108606" cy="3840480"/>
          </a:xfrm>
          <a:prstGeom prst="roundRect">
            <a:avLst>
              <a:gd name="adj" fmla="val 3903"/>
            </a:avLst>
          </a:prstGeom>
          <a:solidFill>
            <a:srgbClr val="0B2E36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73759" y="2496312"/>
            <a:ext cx="475488" cy="475488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10" name="Text 8"/>
          <p:cNvSpPr/>
          <p:nvPr/>
        </p:nvSpPr>
        <p:spPr>
          <a:xfrm>
            <a:off x="1273759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16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18342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" y="3840480"/>
            <a:ext cx="177942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Management-level summary of production, finance, emissions &amp; major trends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8686" y="2240280"/>
            <a:ext cx="2108606" cy="3840480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5246" y="2496312"/>
            <a:ext cx="475488" cy="47548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5" name="Text 13"/>
          <p:cNvSpPr/>
          <p:nvPr/>
        </p:nvSpPr>
        <p:spPr>
          <a:xfrm>
            <a:off x="3565246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16" dirty="0"/>
          </a:p>
        </p:txBody>
      </p:sp>
      <p:sp>
        <p:nvSpPr>
          <p:cNvPr id="16" name="Text 14"/>
          <p:cNvSpPr/>
          <p:nvPr/>
        </p:nvSpPr>
        <p:spPr>
          <a:xfrm>
            <a:off x="2885846" y="3154680"/>
            <a:ext cx="18342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Operations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13278" y="3840480"/>
            <a:ext cx="177942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assets, downtime, maintenance &amp; operational cost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40173" y="2240280"/>
            <a:ext cx="2108606" cy="3840480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6732" y="2496312"/>
            <a:ext cx="475488" cy="47548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0" name="Text 18"/>
          <p:cNvSpPr/>
          <p:nvPr/>
        </p:nvSpPr>
        <p:spPr>
          <a:xfrm>
            <a:off x="5856732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16" dirty="0"/>
          </a:p>
        </p:txBody>
      </p:sp>
      <p:sp>
        <p:nvSpPr>
          <p:cNvPr id="21" name="Text 19"/>
          <p:cNvSpPr/>
          <p:nvPr/>
        </p:nvSpPr>
        <p:spPr>
          <a:xfrm>
            <a:off x="5177333" y="3154680"/>
            <a:ext cx="18342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04765" y="3840480"/>
            <a:ext cx="177942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cost, margin, segment/region revenue &amp; Brent-price 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31659" y="2240280"/>
            <a:ext cx="2108606" cy="3840480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48218" y="2496312"/>
            <a:ext cx="475488" cy="47548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5" name="Text 23"/>
          <p:cNvSpPr/>
          <p:nvPr/>
        </p:nvSpPr>
        <p:spPr>
          <a:xfrm>
            <a:off x="8148218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16" dirty="0"/>
          </a:p>
        </p:txBody>
      </p:sp>
      <p:sp>
        <p:nvSpPr>
          <p:cNvPr id="26" name="Text 24"/>
          <p:cNvSpPr/>
          <p:nvPr/>
        </p:nvSpPr>
        <p:spPr>
          <a:xfrm>
            <a:off x="7468819" y="3154680"/>
            <a:ext cx="18342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&amp; Decarbonization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96251" y="3840480"/>
            <a:ext cx="177942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1/2/3, emissions trends, regions, assets, targets &amp; reduction focus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23146" y="2240280"/>
            <a:ext cx="2108606" cy="3840480"/>
          </a:xfrm>
          <a:prstGeom prst="roundRect">
            <a:avLst>
              <a:gd name="adj" fmla="val 390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39705" y="2496312"/>
            <a:ext cx="475488" cy="47548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0" name="Text 28"/>
          <p:cNvSpPr/>
          <p:nvPr/>
        </p:nvSpPr>
        <p:spPr>
          <a:xfrm>
            <a:off x="10439705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16" dirty="0"/>
          </a:p>
        </p:txBody>
      </p:sp>
      <p:sp>
        <p:nvSpPr>
          <p:cNvPr id="31" name="Text 29"/>
          <p:cNvSpPr/>
          <p:nvPr/>
        </p:nvSpPr>
        <p:spPr>
          <a:xfrm>
            <a:off x="9760306" y="3154680"/>
            <a:ext cx="18342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87738" y="3840480"/>
            <a:ext cx="177942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assumptions and effects on production, revenue, emissions &amp; renewable share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DASHBOARD PAGE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Management-level snapshot balancing operational scale, financial results and environmental performance.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8105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075688"/>
            <a:ext cx="1591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951.1M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2589581"/>
            <a:ext cx="159105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2868" y="1965960"/>
            <a:ext cx="18105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82596" y="2075688"/>
            <a:ext cx="1591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109.1bn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482596" y="2589581"/>
            <a:ext cx="159105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88536" y="1965960"/>
            <a:ext cx="18105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98264" y="2075688"/>
            <a:ext cx="1591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55.5bn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398264" y="2589581"/>
            <a:ext cx="159105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MARGIN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4204" y="1965960"/>
            <a:ext cx="18105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3932" y="2075688"/>
            <a:ext cx="1591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53.6bn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13932" y="2589581"/>
            <a:ext cx="159105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19872" y="1965960"/>
            <a:ext cx="18105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0" y="2075688"/>
            <a:ext cx="1591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106.0M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29600" y="2589581"/>
            <a:ext cx="159105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35540" y="1965960"/>
            <a:ext cx="181051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145268" y="2075688"/>
            <a:ext cx="1591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0145268" y="2589581"/>
            <a:ext cx="159105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INTENSITY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5532120" cy="2880360"/>
          </a:xfrm>
          <a:prstGeom prst="roundRect">
            <a:avLst>
              <a:gd name="adj" fmla="val 3175"/>
            </a:avLst>
          </a:prstGeom>
          <a:solidFill>
            <a:srgbClr val="E4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visuals on this page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3232" y="3794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Trend — monthly emissions movement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Trend — monthly production movement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99632" y="3246120"/>
            <a:ext cx="55321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visuals on this page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55664" y="3794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by Region — Europe is highest, ~204M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by Scope — Scope 1/2/3 contribution and movement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DASHBOARD PAGE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&amp; Operations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production, asset contribution, downtime, maintenance categories and maintenance cost.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029968"/>
            <a:ext cx="339242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951M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2543861"/>
            <a:ext cx="3392424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88536" y="192024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98264" y="2029968"/>
            <a:ext cx="339242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98264" y="2543861"/>
            <a:ext cx="3392424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9872" y="192024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029968"/>
            <a:ext cx="339242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2543861"/>
            <a:ext cx="3392424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DOWNTIME HOURS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603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by Region — Europe highest, ~204M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Trend — monthly production movement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Production Assets — major producing assets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Assets by Downtime — reliability attention list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by Maintenance Type — downtime by category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by Type — corrective maintenance highest, ~220M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3200400"/>
            <a:ext cx="4965192" cy="2971800"/>
          </a:xfrm>
          <a:prstGeom prst="roundRect">
            <a:avLst>
              <a:gd name="adj" fmla="val 3077"/>
            </a:avLst>
          </a:prstGeom>
          <a:solidFill>
            <a:srgbClr val="0B2E36"/>
          </a:solidFill>
          <a:ln/>
        </p:spPr>
      </p:sp>
      <p:sp>
        <p:nvSpPr>
          <p:cNvPr id="20" name="Shape 18"/>
          <p:cNvSpPr/>
          <p:nvPr/>
        </p:nvSpPr>
        <p:spPr>
          <a:xfrm>
            <a:off x="7022592" y="3401568"/>
            <a:ext cx="402336" cy="402336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21" name="Text 19"/>
          <p:cNvSpPr/>
          <p:nvPr/>
        </p:nvSpPr>
        <p:spPr>
          <a:xfrm>
            <a:off x="7022592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52" dirty="0"/>
          </a:p>
        </p:txBody>
      </p:sp>
      <p:sp>
        <p:nvSpPr>
          <p:cNvPr id="22" name="Text 20"/>
          <p:cNvSpPr/>
          <p:nvPr/>
        </p:nvSpPr>
        <p:spPr>
          <a:xfrm>
            <a:off x="7543800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insight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22592" y="39776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maintenance is a major downtime category and the highest-cost maintenance category — an opportunity to investigate reliability, root causes and preventive-maintenance effectiveness.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DASHBOARD PAGE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revenue, cost, margin, regional/segment performance and Brent-price context.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15798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029968"/>
            <a:ext cx="193852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109.05bn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2543861"/>
            <a:ext cx="19385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920240"/>
            <a:ext cx="215798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52928" y="2029968"/>
            <a:ext cx="193852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53.56bn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52928" y="2543861"/>
            <a:ext cx="19385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920240"/>
            <a:ext cx="215798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38928" y="2029968"/>
            <a:ext cx="193852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55.50bn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38928" y="2543861"/>
            <a:ext cx="19385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MARGIN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920240"/>
            <a:ext cx="215798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24928" y="2029968"/>
            <a:ext cx="193852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50.9%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24928" y="2543861"/>
            <a:ext cx="19385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0" y="1920240"/>
            <a:ext cx="215798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10928" y="2029968"/>
            <a:ext cx="193852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79.42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710928" y="2543861"/>
            <a:ext cx="19385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BRENT PRICE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mix visuals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Cost Trend — monthly movement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Trend — monthly margin movement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 — Upstream Gas, Integrated Gas, Upstream Oil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1792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price visuals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17920" y="3520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 — Europe highest, ~24.61bn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Brent Price — financial performance vs commodity price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521208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E4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2120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caution: treat the Revenue vs Brent Price relationship as association, not proof of causation.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DASHBOARD PAGE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Emissions &amp; Decarbonization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emissions, emissions composition, regional emissions, targets and decarbonization priorities.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02996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106.0M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248716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07792" y="1920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202996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17520" y="248716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INTENSITY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58384" y="1920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68112" y="2029968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468112" y="248716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TARGET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297180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126480" y="2971800"/>
            <a:ext cx="56052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visuals on this page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82512" y="35204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Trend by Scope — monthly Scope 1/2/3 movement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by Region — Europe highest, ~22.8M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1: Actual vs Target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Assets by Emissions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Composition — Scope 3 is largest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DASHBOARD PAGE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Analysis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alternative scenarios — trade-offs between oil price, production growth, revenue, emissions and renewable share.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9842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66928" y="244144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874520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52928" y="19842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852928" y="244144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GROWTH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874520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38928" y="19842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1027M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138928" y="244144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PRODUCTION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874520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24928" y="19842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117.8bn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424928" y="244144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0" y="1874520"/>
            <a:ext cx="21579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10928" y="19842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116.8M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710928" y="244144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EMISSIONS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2926080"/>
          <a:ext cx="11274552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INTERACTIVITY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&amp; Slicers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slicers let users change the analytical context without creating separate reports.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50800" dist="25400" dir="5400000">
              <a:srgbClr val="1B2B2B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13432" y="2167128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D9A544"/>
          </a:solidFill>
          <a:ln/>
        </p:spPr>
      </p:sp>
      <p:sp>
        <p:nvSpPr>
          <p:cNvPr id="10" name="Text 8"/>
          <p:cNvSpPr/>
          <p:nvPr/>
        </p:nvSpPr>
        <p:spPr>
          <a:xfrm>
            <a:off x="2313432" y="216712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2194560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295351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on the Scenario Analysis page; changes the selected scenario context.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9272" y="205740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50800" dist="25400" dir="5400000">
              <a:srgbClr val="1B2B2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75504" y="2167128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D9A544"/>
          </a:solidFill>
          <a:ln/>
        </p:spPr>
      </p:sp>
      <p:sp>
        <p:nvSpPr>
          <p:cNvPr id="17" name="Text 15"/>
          <p:cNvSpPr/>
          <p:nvPr/>
        </p:nvSpPr>
        <p:spPr>
          <a:xfrm>
            <a:off x="5175504" y="216712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56432" y="2194560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9" name="Text 17"/>
          <p:cNvSpPr/>
          <p:nvPr/>
        </p:nvSpPr>
        <p:spPr>
          <a:xfrm>
            <a:off x="3456432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456432" y="26517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56432" y="295351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on the Emissions &amp; Decarbonization page; supports year-specific analysis.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81344" y="205740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50800" dist="25400" dir="5400000">
              <a:srgbClr val="1B2B2B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18504" y="2194560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4" name="Text 22"/>
          <p:cNvSpPr/>
          <p:nvPr/>
        </p:nvSpPr>
        <p:spPr>
          <a:xfrm>
            <a:off x="6318504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318504" y="26517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18504" y="295351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report visuals for regional analysis and visual interaction.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43416" y="205740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50800" dist="25400" dir="5400000">
              <a:srgbClr val="1B2B2B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80576" y="2194560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9" name="Text 27"/>
          <p:cNvSpPr/>
          <p:nvPr/>
        </p:nvSpPr>
        <p:spPr>
          <a:xfrm>
            <a:off x="9180576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180576" y="26517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80576" y="295351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report visuals for asset-level analysis and visual interaction.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822192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50800" dist="25400" dir="5400000">
              <a:srgbClr val="1B2B2B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" y="3959352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594360" y="44165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94360" y="4718304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financial visuals for segment analysis and visual interaction.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9272" y="3822192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50800" dist="25400" dir="5400000">
              <a:srgbClr val="1B2B2B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56432" y="3959352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9" name="Text 37"/>
          <p:cNvSpPr/>
          <p:nvPr/>
        </p:nvSpPr>
        <p:spPr>
          <a:xfrm>
            <a:off x="3456432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3456432" y="44165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Cross-filtering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456432" y="4718304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Selections affect related visuals per interaction settings.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81344" y="3822192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50800" dist="25400" dir="5400000">
              <a:srgbClr val="1B2B2B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18504" y="3959352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44" name="Text 42"/>
          <p:cNvSpPr/>
          <p:nvPr/>
        </p:nvSpPr>
        <p:spPr>
          <a:xfrm>
            <a:off x="6318504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6318504" y="44165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318504" y="4718304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additional detail without overcrowding the report.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043416" y="3822192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50800" dist="25400" dir="5400000">
              <a:srgbClr val="1B2B2B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180576" y="3959352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49" name="Text 47"/>
          <p:cNvSpPr/>
          <p:nvPr/>
        </p:nvSpPr>
        <p:spPr>
          <a:xfrm>
            <a:off x="9180576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20" dirty="0"/>
          </a:p>
        </p:txBody>
      </p:sp>
      <p:sp>
        <p:nvSpPr>
          <p:cNvPr id="50" name="Text 48"/>
          <p:cNvSpPr/>
          <p:nvPr/>
        </p:nvSpPr>
        <p:spPr>
          <a:xfrm>
            <a:off x="9180576" y="44165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Navigation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9180576" y="4718304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Left-side buttons move between the five pages.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INSIGHTS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724912" cy="4480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92808"/>
            <a:ext cx="420624" cy="42062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18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23591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is the highest displayed production region, ~204M</a:t>
            </a:r>
            <a:endParaRPr lang="en-US" sz="10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maintenance is the highest displayed downtime and maintenance-cost category</a:t>
            </a:r>
            <a:endParaRPr lang="en-US" sz="10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High-downtime assets can be prioritized for reliability review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1691640"/>
            <a:ext cx="2724912" cy="4480560"/>
          </a:xfrm>
          <a:prstGeom prst="roundRect">
            <a:avLst>
              <a:gd name="adj" fmla="val 3356"/>
            </a:avLst>
          </a:prstGeom>
          <a:solidFill>
            <a:srgbClr val="0B2E36"/>
          </a:solidFill>
          <a:ln w="12700">
            <a:solidFill>
              <a:srgbClr val="0B2E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1892808"/>
            <a:ext cx="420624" cy="420624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14" name="Text 12"/>
          <p:cNvSpPr/>
          <p:nvPr/>
        </p:nvSpPr>
        <p:spPr>
          <a:xfrm>
            <a:off x="3502152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8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18" dirty="0"/>
          </a:p>
        </p:txBody>
      </p:sp>
      <p:sp>
        <p:nvSpPr>
          <p:cNvPr id="15" name="Text 13"/>
          <p:cNvSpPr/>
          <p:nvPr/>
        </p:nvSpPr>
        <p:spPr>
          <a:xfrm>
            <a:off x="3502152" y="246888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02152" y="2880360"/>
            <a:ext cx="23591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~109.05bn and total margin ~55.50bn displayed</a:t>
            </a:r>
            <a:endParaRPr lang="en-US" sz="10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distributed across business segments and regions</a:t>
            </a:r>
            <a:endParaRPr lang="en-US" sz="10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does not automatically imply stronger profitability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81344" y="1691640"/>
            <a:ext cx="2724912" cy="4480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4224" y="1892808"/>
            <a:ext cx="420624" cy="420624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9" name="Text 17"/>
          <p:cNvSpPr/>
          <p:nvPr/>
        </p:nvSpPr>
        <p:spPr>
          <a:xfrm>
            <a:off x="6364224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18" dirty="0"/>
          </a:p>
        </p:txBody>
      </p:sp>
      <p:sp>
        <p:nvSpPr>
          <p:cNvPr id="20" name="Text 18"/>
          <p:cNvSpPr/>
          <p:nvPr/>
        </p:nvSpPr>
        <p:spPr>
          <a:xfrm>
            <a:off x="6364224" y="246888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64224" y="2880360"/>
            <a:ext cx="23591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emissions ~106.0M displayed</a:t>
            </a:r>
            <a:endParaRPr lang="en-US" sz="10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is the largest displayed component, ~76.9M</a:t>
            </a:r>
            <a:endParaRPr lang="en-US" sz="10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High-emitting assets can be prioritized for reduction investigations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43416" y="1691640"/>
            <a:ext cx="2724912" cy="4480560"/>
          </a:xfrm>
          <a:prstGeom prst="roundRect">
            <a:avLst>
              <a:gd name="adj" fmla="val 3356"/>
            </a:avLst>
          </a:prstGeom>
          <a:solidFill>
            <a:srgbClr val="0B2E36"/>
          </a:solidFill>
          <a:ln w="12700">
            <a:solidFill>
              <a:srgbClr val="0B2E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26296" y="1892808"/>
            <a:ext cx="420624" cy="420624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24" name="Text 22"/>
          <p:cNvSpPr/>
          <p:nvPr/>
        </p:nvSpPr>
        <p:spPr>
          <a:xfrm>
            <a:off x="9226296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8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18" dirty="0"/>
          </a:p>
        </p:txBody>
      </p:sp>
      <p:sp>
        <p:nvSpPr>
          <p:cNvPr id="25" name="Text 23"/>
          <p:cNvSpPr/>
          <p:nvPr/>
        </p:nvSpPr>
        <p:spPr>
          <a:xfrm>
            <a:off x="9226296" y="246888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26296" y="2880360"/>
            <a:ext cx="23591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Scenario has the highest production growth, 8%</a:t>
            </a:r>
            <a:endParaRPr lang="en-US" sz="10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Transition has the highest renewable share, 30%</a:t>
            </a:r>
            <a:endParaRPr lang="en-US" sz="10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results support planning, not guaranteed forecasts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48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46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65836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97510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051560" y="169164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 identification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00984" y="169164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97510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3895344" y="169164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169164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197510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739128" y="169164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88552" y="169164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16568" y="197510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1" name="Text 19"/>
          <p:cNvSpPr/>
          <p:nvPr/>
        </p:nvSpPr>
        <p:spPr>
          <a:xfrm>
            <a:off x="91165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582912" y="169164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to Power BI connection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" y="307238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1051560" y="278892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Power Query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00984" y="278892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307238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3895344" y="278892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44768" y="278892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2784" y="307238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3" name="Text 31"/>
          <p:cNvSpPr/>
          <p:nvPr/>
        </p:nvSpPr>
        <p:spPr>
          <a:xfrm>
            <a:off x="6272784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6739128" y="278892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development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88552" y="278892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16568" y="307238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37" name="Text 35"/>
          <p:cNvSpPr/>
          <p:nvPr/>
        </p:nvSpPr>
        <p:spPr>
          <a:xfrm>
            <a:off x="9116568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9582912" y="278892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88620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5216" y="416966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41" name="Text 39"/>
          <p:cNvSpPr/>
          <p:nvPr/>
        </p:nvSpPr>
        <p:spPr>
          <a:xfrm>
            <a:off x="585216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1051560" y="388620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00984" y="388620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9000" y="416966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45" name="Text 43"/>
          <p:cNvSpPr/>
          <p:nvPr/>
        </p:nvSpPr>
        <p:spPr>
          <a:xfrm>
            <a:off x="34290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3895344" y="388620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44768" y="3886200"/>
            <a:ext cx="2697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72784" y="4169664"/>
            <a:ext cx="365760" cy="36576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49" name="Text 47"/>
          <p:cNvSpPr/>
          <p:nvPr/>
        </p:nvSpPr>
        <p:spPr>
          <a:xfrm>
            <a:off x="6272784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20" dirty="0"/>
          </a:p>
        </p:txBody>
      </p:sp>
      <p:sp>
        <p:nvSpPr>
          <p:cNvPr id="50" name="Text 48"/>
          <p:cNvSpPr/>
          <p:nvPr/>
        </p:nvSpPr>
        <p:spPr>
          <a:xfrm>
            <a:off x="6739128" y="3886200"/>
            <a:ext cx="1965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 &amp; presentation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53212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E4EEEE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53212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the documented source → preparation → model → measures → visuals → filters/navigation → decision-support architecture.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123F49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5029200" cy="5029200"/>
          </a:xfrm>
          <a:prstGeom prst="ellipse">
            <a:avLst/>
          </a:prstGeom>
          <a:solidFill>
            <a:srgbClr val="0F6B7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full project on GitHub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9784080" cy="914400"/>
          </a:xfrm>
          <a:prstGeom prst="roundRect">
            <a:avLst>
              <a:gd name="adj" fmla="val 8000"/>
            </a:avLst>
          </a:prstGeom>
          <a:solidFill>
            <a:srgbClr val="123F49"/>
          </a:solidFill>
          <a:ln w="12700">
            <a:solidFill>
              <a:srgbClr val="1D5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063240"/>
            <a:ext cx="457200" cy="457200"/>
          </a:xfrm>
          <a:prstGeom prst="ellipse">
            <a:avLst/>
          </a:prstGeom>
          <a:solidFill>
            <a:srgbClr val="D9A54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91640" y="2834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github.com/sridhar03-creator/shell-upstream-performance-emissions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Upstream Performance &amp; Emissions Command Center connects upstream operations, financial performance, environmental performance and strategic scenario analysis in one interactive Power BI report — from database organization and ETL through DAX, dashboard design and business insight.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2377440" cy="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 by sridhar.P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2026-08-24T10:07:15Z</dcterms:created>
  <dcterms:modified xsi:type="dcterms:W3CDTF">2026-08-24T10:07:15Z</dcterms:modified>
</cp:coreProperties>
</file>